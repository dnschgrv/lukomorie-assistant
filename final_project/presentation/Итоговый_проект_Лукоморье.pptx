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be755df48140b2" /><Relationship Type="http://schemas.openxmlformats.org/officeDocument/2006/relationships/extended-properties" Target="/docProps/app.xml" Id="R277ffd192be54c74" /><Relationship Type="http://schemas.openxmlformats.org/officeDocument/2006/relationships/officeDocument" Target="/ppt/presentation.xml" Id="Rf7f4b79857a3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4a883feae4506"/>
  </p:sldMasterIdLst>
  <p:notesMasterIdLst>
    <p:notesMasterId xmlns:r="http://schemas.openxmlformats.org/officeDocument/2006/relationships" r:id="R2e71f37c738b4a3a"/>
  </p:notesMasterIdLst>
  <p:sldIdLst>
    <p:sldId xmlns:r="http://schemas.openxmlformats.org/officeDocument/2006/relationships" id="256" r:id="R8ad273ac13b14b3e"/>
    <p:sldId xmlns:r="http://schemas.openxmlformats.org/officeDocument/2006/relationships" id="257" r:id="R915f4fef4b6446c4"/>
    <p:sldId xmlns:r="http://schemas.openxmlformats.org/officeDocument/2006/relationships" id="258" r:id="R7c28e64c3740470a"/>
    <p:sldId xmlns:r="http://schemas.openxmlformats.org/officeDocument/2006/relationships" id="259" r:id="R006712cce4504dce"/>
    <p:sldId xmlns:r="http://schemas.openxmlformats.org/officeDocument/2006/relationships" id="260" r:id="Re1c3a0640c6c477f"/>
    <p:sldId xmlns:r="http://schemas.openxmlformats.org/officeDocument/2006/relationships" id="261" r:id="R70886a7199204aa5"/>
    <p:sldId xmlns:r="http://schemas.openxmlformats.org/officeDocument/2006/relationships" id="262" r:id="Rd778958f824549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7c7fed3ea411f" /><Relationship Type="http://schemas.openxmlformats.org/officeDocument/2006/relationships/slideMaster" Target="/ppt/slideMasters/slideMaster1.xml" Id="Re484a883feae4506" /><Relationship Type="http://schemas.openxmlformats.org/officeDocument/2006/relationships/notesMaster" Target="/ppt/notesMasters/notesMaster1.xml" Id="R2e71f37c738b4a3a" /><Relationship Type="http://schemas.openxmlformats.org/officeDocument/2006/relationships/presProps" Target="/ppt/presProps.xml" Id="R72537640f7214def" /><Relationship Type="http://schemas.openxmlformats.org/officeDocument/2006/relationships/tableStyles" Target="/ppt/tableStyles.xml" Id="R705339ec10a44b03" /><Relationship Type="http://schemas.openxmlformats.org/officeDocument/2006/relationships/slide" Target="/ppt/slides/slide1.xml" Id="R8ad273ac13b14b3e" /><Relationship Type="http://schemas.openxmlformats.org/officeDocument/2006/relationships/slide" Target="/ppt/slides/slide2.xml" Id="R915f4fef4b6446c4" /><Relationship Type="http://schemas.openxmlformats.org/officeDocument/2006/relationships/slide" Target="/ppt/slides/slide3.xml" Id="R7c28e64c3740470a" /><Relationship Type="http://schemas.openxmlformats.org/officeDocument/2006/relationships/slide" Target="/ppt/slides/slide4.xml" Id="R006712cce4504dce" /><Relationship Type="http://schemas.openxmlformats.org/officeDocument/2006/relationships/slide" Target="/ppt/slides/slide5.xml" Id="Re1c3a0640c6c477f" /><Relationship Type="http://schemas.openxmlformats.org/officeDocument/2006/relationships/slide" Target="/ppt/slides/slide6.xml" Id="R70886a7199204aa5" /><Relationship Type="http://schemas.openxmlformats.org/officeDocument/2006/relationships/slide" Target="/ppt/slides/slide7.xml" Id="Rd778958f824549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f44ebc2c341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af948496849a7" /><Relationship Type="http://schemas.openxmlformats.org/officeDocument/2006/relationships/notesMaster" Target="/ppt/notesMasters/notesMaster1.xml" Id="Raee535394d46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07795f37d54d3c" /><Relationship Type="http://schemas.openxmlformats.org/officeDocument/2006/relationships/notesMaster" Target="/ppt/notesMasters/notesMaster1.xml" Id="Rbacb4ccc2a274f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e7a85ad1f49f6" /><Relationship Type="http://schemas.openxmlformats.org/officeDocument/2006/relationships/notesMaster" Target="/ppt/notesMasters/notesMaster1.xml" Id="R55bdc6dd5f784b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ac62726c74408" /><Relationship Type="http://schemas.openxmlformats.org/officeDocument/2006/relationships/notesMaster" Target="/ppt/notesMasters/notesMaster1.xml" Id="Ra9a6d38e2d46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86453f85404b5c" /><Relationship Type="http://schemas.openxmlformats.org/officeDocument/2006/relationships/notesMaster" Target="/ppt/notesMasters/notesMaster1.xml" Id="Rfdcd41564ac4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cc0f083ba48b9" /><Relationship Type="http://schemas.openxmlformats.org/officeDocument/2006/relationships/notesMaster" Target="/ppt/notesMasters/notesMaster1.xml" Id="Re962f9d75a424b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fbad0078c3474c" /><Relationship Type="http://schemas.openxmlformats.org/officeDocument/2006/relationships/notesMaster" Target="/ppt/notesMasters/notesMaster1.xml" Id="R7579db0e85b3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создан на основе официального сайта https://aolukomorie56.ru/ и приложенных прейскурантов.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проблемы и сценариев: техническое задание проекта; официальный сайт https://aolukomorie56.ru/.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Архитектура: код проекта; OpenAI Responses API https://platform.openai.com/docs/api-reference/responses.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https://aolukomorie56.ru/; https://aolukomorie56.ru/pravila/; https://aolukomorie56.ru/dostupnaya-sreda/; приложенные XLS-прейскуранты.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https://bot.aolukomorie56.ru/demo. Тариф: официальный прайс 2026 https://aolukomorie56.ru/wp-content/uploads/2026/01/prajs-putevki-2026-god.pdf.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Тарифы: https://developers.openai.com/api/docs/models/gpt-5.6-terra и https://developers.openai.com/api/docs/models/text-embedding-3-small. Все показатели — расчётные допущения, не гарантия.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и планы: Техническое задание проекта, версия 2.0 от 08.10.2026.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d9ce85db2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1bb94755245e7" /><Relationship Type="http://schemas.openxmlformats.org/officeDocument/2006/relationships/slideLayout" Target="/ppt/slideLayouts/slideLayout1.xml" Id="Rfbb6a9dc9b27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b6a9dc9b27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30d6811b2444e" /><Relationship Type="http://schemas.openxmlformats.org/officeDocument/2006/relationships/notesSlide" Target="/ppt/notesSlides/notesSlide1.xml" Id="Rd29fa8c0a93b48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862cd223b4df5" /><Relationship Type="http://schemas.openxmlformats.org/officeDocument/2006/relationships/notesSlide" Target="/ppt/notesSlides/notesSlide2.xml" Id="R7f8a4612745247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2ccaa982548a0" /><Relationship Type="http://schemas.openxmlformats.org/officeDocument/2006/relationships/notesSlide" Target="/ppt/notesSlides/notesSlide3.xml" Id="R7320f0a82b76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4abbcde64678" /><Relationship Type="http://schemas.openxmlformats.org/officeDocument/2006/relationships/notesSlide" Target="/ppt/notesSlides/notesSlide4.xml" Id="R2182384ddea1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2bdde4484c68" /><Relationship Type="http://schemas.openxmlformats.org/officeDocument/2006/relationships/notesSlide" Target="/ppt/notesSlides/notesSlide5.xml" Id="Rd7c79c27e26f40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94a26237f44d0" /><Relationship Type="http://schemas.openxmlformats.org/officeDocument/2006/relationships/chart" Target="/ppt/slides/charts/chart1.xml" Id="Rd2d3b749f25b4960" /><Relationship Type="http://schemas.openxmlformats.org/officeDocument/2006/relationships/notesSlide" Target="/ppt/notesSlides/notesSlide6.xml" Id="R3424e57592dc4f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93a72adc347ca" /><Relationship Type="http://schemas.openxmlformats.org/officeDocument/2006/relationships/notesSlide" Target="/ppt/notesSlides/notesSlide7.xml" Id="Re517f884874e4e7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1B6B58"/>
            </a:solidFill>
          </c:spPr>
          <c:cat>
            <c:strLit>
              <c:ptCount val="6"/>
              <c:pt idx="0">
                <c:v>Разработка</c:v>
              </c:pt>
              <c:pt idx="1">
                <c:v>OpenAI API</c:v>
              </c:pt>
              <c:pt idx="2">
                <c:v>VPS</c:v>
              </c:pt>
              <c:pt idx="3">
                <c:v>Мониторинг</c:v>
              </c:pt>
              <c:pt idx="4">
                <c:v>Сопровождение</c:v>
              </c:pt>
              <c:pt idx="5">
                <c:v>Резерв</c:v>
              </c:pt>
            </c:strLit>
          </c:cat>
          <c:val>
            <c:numLit>
              <c:formatCode>General</c:formatCode>
              <c:ptCount val="6"/>
              <c:pt idx="0">
                <c:v>600</c:v>
              </c:pt>
              <c:pt idx="1">
                <c:v>273.77</c:v>
              </c:pt>
              <c:pt idx="2">
                <c:v>180</c:v>
              </c:pt>
              <c:pt idx="3">
                <c:v>60</c:v>
              </c:pt>
              <c:pt idx="4">
                <c:v>360</c:v>
              </c:pt>
              <c:pt idx="5">
                <c:v>174.75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6B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E2132-5830-4DFC-8C87-C4BB251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AI-АССИСТЕНТ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«ЛУКОМОРЬЕ»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F7C9-5F04-4878-ADF4-76F9908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Кодовый RAG-сервис для сайта санатория-профилактория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FB40-6D82-4A6A-BB83-21519CF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96608-45BB-47DC-A0E9-8EF27AE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23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317E4-AA53-444D-A715-1EDE87E3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документов</a:t>
            </a:r>
          </a:p>
          <a:p xmlns:a="http://schemas.openxmlformats.org/drawingml/2006/main">
            <a:pPr algn="ctr">
              <a:defRPr sz="180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в базе знаний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171EB-5A9B-4568-BF9F-289C2EB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RAG  •  кеш  •  веб-чат</a:t>
            </a:r>
          </a:p>
          <a:p xmlns:a="http://schemas.openxmlformats.org/drawingml/2006/main">
            <a:pPr algn="ctr">
              <a:defRPr sz="150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OpenAI Responses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4042E-CF1F-48BC-B64F-1475584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проект курса • 2026</a:t>
            </a:r>
          </a:p>
        </p:txBody>
      </p:sp>
    </p:spTree>
    <p:extLst>
      <p:ext uri="{BB962C8B-B14F-4D97-AF65-F5344CB8AC3E}">
        <p14:creationId xmlns:p14="http://schemas.microsoft.com/office/powerpoint/2010/main" val="1349426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6BD5D-388A-4B43-AE6E-6CC6F4C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Проблема: информация есть, но она распределена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654A-B643-43C4-BCF6-5E33B49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A24A4-004E-48C0-88F3-6C2F9CC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94CF3-264E-4704-9800-9C0505C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EC4F-EBBD-4B71-A2BE-068B2388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43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Повторяющиеся вопросы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3851F-2C49-46AE-8531-63C240CC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05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Цены, процедуры, документы и правила заезда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B6C7C-7BE2-4BA2-ABA6-EF6F5C6E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28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4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57FBB-83D2-4DAD-A73D-DDCCFE7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44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4483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BB1DB-DB75-4007-849C-6B5C3AB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71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Риск ошибки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621BA-8FEB-4DA6-B347-4184C5E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33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Тарифы меняются, медицинские ответы требуют осторожности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87828-2A6B-48E4-BADC-6590AA75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28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7D9ED-4766-4C99-8BFA-F0755A83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46116-0C17-42E5-941D-670BBDB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00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Ограниченное время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AE00C-6945-4813-9D01-EDEC0210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Администратор не может отвечать круглосуточно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525E0-6875-41AF-99DC-CFDFB15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Цель: дать быстрый проверяемый ответ и не подменять врача или администратора.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961942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C593E-5F2D-4304-A94D-7E50A04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Решение: веб-ассистент со строгим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70849-DAE2-4397-84D2-AA0B144A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A4680-F742-4D27-AB5A-9DA87227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C3CC-FAB6-4BA7-80E0-52A554C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DBEEB-5CA0-49BA-9213-5C9C95F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5745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C3F99-AA73-439A-948F-601925E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908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Виджет на сайте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77FC1-ECA7-49F8-9B85-71FBCDB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B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B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AF2AD-4645-48F6-BA61-BA159063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764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710AB-2818-455E-901C-E877C554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28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07812-B993-4762-8F7A-83484003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78A2C-8F27-43E0-AF45-981FA83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908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Лексика + embeddings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43A37-D414-4CFE-A85B-182A436C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B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B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33B3A-7CA5-4882-B58A-CD01E8B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764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C3D89-FAE1-4D57-9C60-527E212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CE1DB-C24E-47C8-B0B1-7F20E5C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5745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281B2-0381-4EBD-94B5-957A7364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908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Только релевантные факты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88FAC-6CF4-4D6F-9022-86737E14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B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B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C86D9-2265-4898-ACE1-32165D7E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764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6B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EF33B-C17C-4676-9D67-49AC94B2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28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6B894-8BBA-4947-8ED9-98F1D3BA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5745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61698-7AC5-42F6-981C-1DAC380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908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OpenAI + источники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06D42-93E5-4D41-9980-27BBF02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D0D2D-3243-47AA-9BBA-176D41A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SQLite-кеш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32CA1-6500-4B6D-90EE-481BFEBD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54688-3E82-4D59-BFB8-6D46CB4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57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store: false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177A1-25D9-4719-A159-3D3F5E87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9A5FE-9DA5-49ED-9F2E-FF8A601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CORS + rate limit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C0DA5-8594-4055-852F-2FCF7A9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2D4D8-DCC2-4774-B74F-14CBFE1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без текста в логах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C8004-BD77-4C11-A748-BBA681C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Если факта нет — честный отказ и телефоны администратора.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620456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DF2FB-E6BB-4E4C-B668-44DCD5AE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База знаний: 18 документов с приоритетом источников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69CA2-D801-4B9C-A723-BB575A7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7B15-652C-42F9-8641-64B8919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B6B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283C6-2776-4B3F-9950-5029F238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097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3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Действующие прайсы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074D1-516C-4301-8C26-03635BB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Путёвки 2026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98 медицинских услуг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D23D7-DD02-441E-8BFC-7A314D45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73B8D-A083-4EBB-9BFE-1F98610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097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Официальный сайт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8E775-95F5-428F-8D3C-D1B1627B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24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Размещение, правила,</a:t>
            </a:r>
          </a:p>
          <a:p xmlns:a="http://schemas.openxmlformats.org/drawingml/2006/main">
            <a:pPr algn="ctr">
              <a:defRPr sz="157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документы, контакты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7B55C-5DD4-4EF9-A7C0-1ABDAE9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76375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39FFD-EACD-4123-BDFB-BAD20861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097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Процедуры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0820D-6111-473B-A0C1-68589290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Что это, показания,</a:t>
            </a:r>
          </a:p>
          <a:p xmlns:a="http://schemas.openxmlformats.org/drawingml/2006/main">
            <a:pPr algn="ctr">
              <a:defRPr sz="157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противопоказания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BF19B-CFDD-4B6B-973E-75EA6F6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44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483D"/>
                </a:solidFill>
                <a:latin typeface="Arial"/>
                <a:ea typeface="Arial"/>
                <a:cs typeface="Arial"/>
              </a:rPr>
              <a:t>Не включено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0FECE-5433-4517-982B-02E330E6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52E"/>
                </a:solidFill>
                <a:latin typeface="Arial"/>
                <a:ea typeface="Arial"/>
                <a:cs typeface="Arial"/>
              </a:rPr>
              <a:t>новости • акции • отзывы • неподтверждённые обещания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BA1EC-CA23-4FC5-98B1-8AD612D3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Актуализация: новый прайс → версия базы → переиндексация → тесты</a:t>
            </a:r>
          </a:p>
        </p:txBody>
      </p:sp>
    </p:spTree>
    <p:extLst>
      <p:ext uri="{BB962C8B-B14F-4D97-AF65-F5344CB8AC3E}">
        <p14:creationId xmlns:p14="http://schemas.microsoft.com/office/powerpoint/2010/main" val="1002367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896EA-02A2-4FA9-9872-B62C20B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Демо: типовой диалог и безопасные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6E6A9-BA08-4486-8074-ADC55E5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3F42-AC25-4177-B054-701E1F0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143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B6EF8-7230-4705-AE4F-A87EC30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9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75D2-9427-42A2-96DA-648190C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B3F4E-1EE6-4341-A57D-75051AB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Сколько стоит отдых с лечением</a:t>
            </a:r>
          </a:p>
          <a:p xmlns:a="http://schemas.openxmlformats.org/drawingml/2006/main">
            <a:pPr algn="l">
              <a:defRPr sz="18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и питанием на 5 дней?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9736-9D84-4A0E-84DD-E992D34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CD54D-724C-4885-8831-2D488562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8DB1B-2F87-44BC-AC24-F0DEB81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619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6B58"/>
                </a:solidFill>
                <a:latin typeface="Arial"/>
                <a:ea typeface="Arial"/>
                <a:cs typeface="Arial"/>
              </a:rPr>
              <a:t>25 500 ₽ на одного человека</a:t>
            </a:r>
          </a:p>
          <a:p xmlns:a="http://schemas.openxmlformats.org/drawingml/2006/main">
            <a:pPr algn="l">
              <a:defRPr sz="1650" b="0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6B58"/>
                </a:solidFill>
                <a:latin typeface="Arial"/>
                <a:ea typeface="Arial"/>
                <a:cs typeface="Arial"/>
              </a:rPr>
              <a:t>5 × 5 100 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6B58"/>
                </a:solidFill>
                <a:latin typeface="Arial"/>
                <a:ea typeface="Arial"/>
                <a:cs typeface="Arial"/>
              </a:rPr>
              <a:t>В тариф входят проживание, трёхразовое питание</a:t>
            </a:r>
          </a:p>
          <a:p xmlns:a="http://schemas.openxmlformats.org/drawingml/2006/main">
            <a:pPr algn="l">
              <a:defRPr sz="1650" b="0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6B58"/>
                </a:solidFill>
                <a:latin typeface="Arial"/>
                <a:ea typeface="Arial"/>
                <a:cs typeface="Arial"/>
              </a:rPr>
              <a:t>и лечение по назначению врача.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3B90A-8DA5-4381-9B05-A333789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3143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B6B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E2C4A-4540-4DBD-986E-552AA1F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типовых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EEE5B-9F1D-4A80-9D9D-83ACF24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цены • процедуры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документы • программа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39740-02C8-4EB1-BC0D-99B5513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3D4A9-7610-4042-93E2-FC312CA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44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4483D"/>
                </a:solidFill>
                <a:latin typeface="Arial"/>
                <a:ea typeface="Arial"/>
                <a:cs typeface="Arial"/>
              </a:rPr>
              <a:t>2 вне темы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DF1FF-DF29-4C72-96AA-AE8AB894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96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52E"/>
                </a:solidFill>
                <a:latin typeface="Arial"/>
                <a:ea typeface="Arial"/>
                <a:cs typeface="Arial"/>
              </a:rPr>
              <a:t>без выдумки:</a:t>
            </a:r>
          </a:p>
          <a:p xmlns:a="http://schemas.openxmlformats.org/drawingml/2006/main">
            <a:pPr algn="ctr">
              <a:defRPr sz="1500" b="0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52E"/>
                </a:solidFill>
                <a:latin typeface="Arial"/>
                <a:ea typeface="Arial"/>
                <a:cs typeface="Arial"/>
              </a:rPr>
              <a:t>отказ +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841056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FE78B-880E-4DBB-A1A0-A1163323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Экономика: первый год — около $1.65 тыс.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E571B-46BF-41E7-AF32-449195F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d3b749f25b496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4696-466D-4AE1-B310-288B31B4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B6B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493EA-0A4F-4217-8E43-77B576B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$1 648.52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5AD6D-4872-4E94-A8FC-3026635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год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45E80-A2EB-4337-97FB-F741AF7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94C5E-9C5C-4ECF-9D74-4A247B0F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≈ 639 часов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967B0-AEC0-4075-A2FA-8D1735BD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6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потенциальная экономия</a:t>
            </a:r>
          </a:p>
          <a:p xmlns:a="http://schemas.openxmlformats.org/drawingml/2006/main">
            <a:pPr algn="ctr">
              <a:defRPr sz="142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времени администратора в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4BE9-87DA-4103-B5F8-F5C57CB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Допущения: 50 обращений/день, 4 000 токенов/ответ, 70% автоматизации.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41794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5E83A-7876-400C-9C2A-BB23082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Результат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6F74-4A2F-481D-805C-5DE6BB0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9503E-9A6A-425D-8EA7-A633DCBF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B6B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144E3-1465-4167-8AA2-BD341A2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C99FE-F09D-4DE0-A46B-2C6B7715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точность тестов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54411-2C10-43BA-857E-2417E28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DBC2-7D00-46F6-9B06-202A0368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&lt;30 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F2783-2622-4530-86A0-55C0FB08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ответ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E06E4-FA71-4B15-BE25-19F4778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811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7F036-537A-444D-A4C2-0109C834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24/7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B5831-B3F5-4C26-87D3-B2FC669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5E"/>
                </a:solidFill>
                <a:latin typeface="Arial"/>
                <a:ea typeface="Arial"/>
                <a:cs typeface="Arial"/>
              </a:rPr>
              <a:t>доступ через сайт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0797F-606D-4CAF-9C3A-54ACA3D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9A83E-9C37-4E00-B32E-1C9F378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7BD44-C08F-4D16-BF2C-F080380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2432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1. редактор и версии базы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7AD2-A3CC-4EB6-B6D9-46BE879D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1BB00-C056-41DF-B49F-CD82AFE2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2. аналитика неотвеченных вопросов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35F93-B01E-4AE2-A193-F1710164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FE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0DCFB-506B-4F5A-8349-347CD6C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387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3. контроль изменения прайсов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E1D16-6057-40A2-9C85-FF5F04B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8D31F-1A84-4C0C-8F79-3DF5F3A9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387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4. интеграция бронирования после оценки ПДн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48D16-16B9-4719-938E-3BCC3C8E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B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B58"/>
                </a:solidFill>
                <a:latin typeface="Arial"/>
                <a:ea typeface="Arial"/>
                <a:cs typeface="Arial"/>
              </a:rPr>
              <a:t>Демо: bot.aolukomorie56.ru/demo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85627-45D9-4E75-9EB4-B22258C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24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3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2E"/>
                </a:solidFill>
                <a:latin typeface="Arial"/>
                <a:ea typeface="Arial"/>
                <a:cs typeface="Arial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15266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2026-10-08T12:12:48.0570000Z</dcterms:created>
  <dcterms:modified xsi:type="dcterms:W3CDTF">2026-10-08T12:12:48.0570000Z</dcterms:modified>
</coreProperties>
</file>